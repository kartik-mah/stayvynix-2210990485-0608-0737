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6.png" ContentType="image/png"/>
  <Override PartName="/ppt/media/image2.jpeg" ContentType="image/jpeg"/>
  <Override PartName="/ppt/media/image3.png" ContentType="image/png"/>
  <Override PartName="/ppt/media/image1.jpeg" ContentType="image/jpeg"/>
  <Override PartName="/ppt/media/image4.jpeg" ContentType="image/jpe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356000" y="1167840"/>
            <a:ext cx="4408560" cy="168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5632200" y="317520"/>
            <a:ext cx="3132360" cy="258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0" y="0"/>
            <a:ext cx="6802920" cy="513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66680" y="927000"/>
            <a:ext cx="7009920" cy="12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Google Shape;129;p16"/>
          <p:cNvSpPr/>
          <p:nvPr/>
        </p:nvSpPr>
        <p:spPr>
          <a:xfrm flipH="1" rot="10644000">
            <a:off x="3845520" y="-480600"/>
            <a:ext cx="6154920" cy="2239920"/>
          </a:xfrm>
          <a:custGeom>
            <a:avLst/>
            <a:gdLst>
              <a:gd name="textAreaLeft" fmla="*/ -360 w 6154920"/>
              <a:gd name="textAreaRight" fmla="*/ 6154920 w 6154920"/>
              <a:gd name="textAreaTop" fmla="*/ 0 h 2239920"/>
              <a:gd name="textAreaBottom" fmla="*/ 2240280 h 2239920"/>
            </a:gdLst>
            <a:ahLst/>
            <a:cxnLst/>
            <a:rect l="textAreaLeft" t="textAreaTop" r="textAreaRight" b="textAreaBottom"/>
            <a:pathLst>
              <a:path w="274713" h="156651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130;p16"/>
          <p:cNvSpPr/>
          <p:nvPr/>
        </p:nvSpPr>
        <p:spPr>
          <a:xfrm flipH="1" rot="10381200">
            <a:off x="4418280" y="-402480"/>
            <a:ext cx="5486760" cy="2166120"/>
          </a:xfrm>
          <a:custGeom>
            <a:avLst/>
            <a:gdLst>
              <a:gd name="textAreaLeft" fmla="*/ -360 w 5486760"/>
              <a:gd name="textAreaRight" fmla="*/ 5486760 w 5486760"/>
              <a:gd name="textAreaTop" fmla="*/ 0 h 2166120"/>
              <a:gd name="textAreaBottom" fmla="*/ 2166480 h 2166120"/>
            </a:gdLst>
            <a:ahLst/>
            <a:cxnLst/>
            <a:rect l="textAreaLeft" t="textAreaTop" r="textAreaRight" b="textAreaBottom"/>
            <a:pathLst>
              <a:path w="221112" h="72454">
                <a:moveTo>
                  <a:pt x="221112" y="442"/>
                </a:moveTo>
                <a:cubicBezTo>
                  <a:pt x="218816" y="178"/>
                  <a:pt x="216520" y="1"/>
                  <a:pt x="214268" y="1"/>
                </a:cubicBezTo>
                <a:cubicBezTo>
                  <a:pt x="155193" y="1"/>
                  <a:pt x="135237" y="72454"/>
                  <a:pt x="0" y="72454"/>
                </a:cubicBezTo>
                <a:lnTo>
                  <a:pt x="221112" y="72454"/>
                </a:lnTo>
                <a:close/>
              </a:path>
            </a:pathLst>
          </a:custGeom>
          <a:solidFill>
            <a:schemeClr val="dk2">
              <a:alpha val="6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131;p16"/>
          <p:cNvSpPr/>
          <p:nvPr/>
        </p:nvSpPr>
        <p:spPr>
          <a:xfrm flipH="1" rot="21444000">
            <a:off x="-486000" y="3374280"/>
            <a:ext cx="5949720" cy="2165760"/>
          </a:xfrm>
          <a:custGeom>
            <a:avLst/>
            <a:gdLst>
              <a:gd name="textAreaLeft" fmla="*/ -360 w 5949720"/>
              <a:gd name="textAreaRight" fmla="*/ 5949720 w 5949720"/>
              <a:gd name="textAreaTop" fmla="*/ 0 h 2165760"/>
              <a:gd name="textAreaBottom" fmla="*/ 2166120 h 2165760"/>
            </a:gdLst>
            <a:ahLst/>
            <a:cxnLst/>
            <a:rect l="textAreaLeft" t="textAreaTop" r="textAreaRight" b="textAreaBottom"/>
            <a:pathLst>
              <a:path w="274713" h="156651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132;p16"/>
          <p:cNvSpPr/>
          <p:nvPr/>
        </p:nvSpPr>
        <p:spPr>
          <a:xfrm flipH="1" rot="21180600">
            <a:off x="-392760" y="3370680"/>
            <a:ext cx="5303880" cy="2093400"/>
          </a:xfrm>
          <a:custGeom>
            <a:avLst/>
            <a:gdLst>
              <a:gd name="textAreaLeft" fmla="*/ -360 w 5303880"/>
              <a:gd name="textAreaRight" fmla="*/ 5303880 w 5303880"/>
              <a:gd name="textAreaTop" fmla="*/ 0 h 2093400"/>
              <a:gd name="textAreaBottom" fmla="*/ 2093760 h 2093400"/>
            </a:gdLst>
            <a:ahLst/>
            <a:cxnLst/>
            <a:rect l="textAreaLeft" t="textAreaTop" r="textAreaRight" b="textAreaBottom"/>
            <a:pathLst>
              <a:path w="221112" h="72454">
                <a:moveTo>
                  <a:pt x="221112" y="442"/>
                </a:moveTo>
                <a:cubicBezTo>
                  <a:pt x="218816" y="178"/>
                  <a:pt x="216520" y="1"/>
                  <a:pt x="214268" y="1"/>
                </a:cubicBezTo>
                <a:cubicBezTo>
                  <a:pt x="155193" y="1"/>
                  <a:pt x="135237" y="72454"/>
                  <a:pt x="0" y="72454"/>
                </a:cubicBezTo>
                <a:lnTo>
                  <a:pt x="221112" y="72454"/>
                </a:lnTo>
                <a:close/>
              </a:path>
            </a:pathLst>
          </a:custGeom>
          <a:solidFill>
            <a:schemeClr val="dk2">
              <a:alpha val="6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201200" y="459360"/>
            <a:ext cx="4525920" cy="197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30992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548640"/>
            <a:ext cx="7703640" cy="59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20000" y="1103400"/>
            <a:ext cx="7703640" cy="354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27;p4"/>
          <p:cNvSpPr/>
          <p:nvPr/>
        </p:nvSpPr>
        <p:spPr>
          <a:xfrm rot="21379800">
            <a:off x="4140360" y="-2378160"/>
            <a:ext cx="12883680" cy="2642400"/>
          </a:xfrm>
          <a:custGeom>
            <a:avLst/>
            <a:gdLst>
              <a:gd name="textAreaLeft" fmla="*/ 0 w 12883680"/>
              <a:gd name="textAreaRight" fmla="*/ 12884040 w 12883680"/>
              <a:gd name="textAreaTop" fmla="*/ 0 h 2642400"/>
              <a:gd name="textAreaBottom" fmla="*/ 2642760 h 2642400"/>
            </a:gdLst>
            <a:ahLst/>
            <a:cxnLst/>
            <a:rect l="textAreaLeft" t="textAreaTop" r="textAreaRight" b="textAreaBottom"/>
            <a:pathLst>
              <a:path w="249105" h="67994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7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Google Shape;28;p4"/>
          <p:cNvSpPr/>
          <p:nvPr/>
        </p:nvSpPr>
        <p:spPr>
          <a:xfrm>
            <a:off x="4801680" y="-1512000"/>
            <a:ext cx="12883320" cy="2162880"/>
          </a:xfrm>
          <a:custGeom>
            <a:avLst/>
            <a:gdLst>
              <a:gd name="textAreaLeft" fmla="*/ 0 w 12883320"/>
              <a:gd name="textAreaRight" fmla="*/ 12883680 w 12883320"/>
              <a:gd name="textAreaTop" fmla="*/ 0 h 2162880"/>
              <a:gd name="textAreaBottom" fmla="*/ 2163240 h 2162880"/>
            </a:gdLst>
            <a:ahLst/>
            <a:cxnLst/>
            <a:rect l="textAreaLeft" t="textAreaTop" r="textAreaRight" b="textAreaBottom"/>
            <a:pathLst>
              <a:path w="249105" h="67994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29;p4"/>
          <p:cNvSpPr/>
          <p:nvPr/>
        </p:nvSpPr>
        <p:spPr>
          <a:xfrm rot="1828800">
            <a:off x="-2188800" y="-2399400"/>
            <a:ext cx="12936960" cy="12775680"/>
          </a:xfrm>
          <a:custGeom>
            <a:avLst/>
            <a:gdLst>
              <a:gd name="textAreaLeft" fmla="*/ 0 w 12936960"/>
              <a:gd name="textAreaRight" fmla="*/ 12937320 w 12936960"/>
              <a:gd name="textAreaTop" fmla="*/ 0 h 12775680"/>
              <a:gd name="textAreaBottom" fmla="*/ 12776040 h 12775680"/>
            </a:gdLst>
            <a:ahLst/>
            <a:cxnLst/>
            <a:rect l="textAreaLeft" t="textAreaTop" r="textAreaRight" b="textAreaBottom"/>
            <a:pathLst>
              <a:path w="274713" h="156651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30;p4"/>
          <p:cNvSpPr/>
          <p:nvPr/>
        </p:nvSpPr>
        <p:spPr>
          <a:xfrm rot="1828800">
            <a:off x="-228240" y="-2178000"/>
            <a:ext cx="12936960" cy="12775680"/>
          </a:xfrm>
          <a:custGeom>
            <a:avLst/>
            <a:gdLst>
              <a:gd name="textAreaLeft" fmla="*/ 0 w 12936960"/>
              <a:gd name="textAreaRight" fmla="*/ 12937320 w 12936960"/>
              <a:gd name="textAreaTop" fmla="*/ 0 h 12775680"/>
              <a:gd name="textAreaBottom" fmla="*/ 12776040 h 12775680"/>
            </a:gdLst>
            <a:ahLst/>
            <a:cxnLst/>
            <a:rect l="textAreaLeft" t="textAreaTop" r="textAreaRight" b="textAreaBottom"/>
            <a:pathLst>
              <a:path w="274713" h="156651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320040"/>
            <a:ext cx="8520120" cy="150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528;p61"/>
          <p:cNvSpPr/>
          <p:nvPr/>
        </p:nvSpPr>
        <p:spPr>
          <a:xfrm>
            <a:off x="720000" y="3174480"/>
            <a:ext cx="276264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 This presentation template was created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including icons, infographics &amp; images by </a:t>
            </a: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Freepik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543;p67" descr=""/>
          <p:cNvPicPr/>
          <p:nvPr/>
        </p:nvPicPr>
        <p:blipFill>
          <a:blip r:embed="rId1"/>
          <a:stretch/>
        </p:blipFill>
        <p:spPr>
          <a:xfrm>
            <a:off x="0" y="0"/>
            <a:ext cx="6802560" cy="513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Google Shape;544;p67"/>
          <p:cNvSpPr/>
          <p:nvPr/>
        </p:nvSpPr>
        <p:spPr>
          <a:xfrm flipH="1" rot="211800">
            <a:off x="-2234880" y="3080880"/>
            <a:ext cx="6639840" cy="2813400"/>
          </a:xfrm>
          <a:custGeom>
            <a:avLst/>
            <a:gdLst>
              <a:gd name="textAreaLeft" fmla="*/ 360 w 6639840"/>
              <a:gd name="textAreaRight" fmla="*/ 6640560 w 6639840"/>
              <a:gd name="textAreaTop" fmla="*/ 0 h 2813400"/>
              <a:gd name="textAreaBottom" fmla="*/ 2813760 h 2813400"/>
            </a:gdLst>
            <a:ahLst/>
            <a:cxnLst/>
            <a:rect l="textAreaLeft" t="textAreaTop" r="textAreaRight" b="textAreaBottom"/>
            <a:pathLst>
              <a:path w="274713" h="156651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3" name="Google Shape;545;p67"/>
          <p:cNvGrpSpPr/>
          <p:nvPr/>
        </p:nvGrpSpPr>
        <p:grpSpPr>
          <a:xfrm>
            <a:off x="-1151280" y="-1099800"/>
            <a:ext cx="9823320" cy="7021800"/>
            <a:chOff x="-1151280" y="-1099800"/>
            <a:chExt cx="9823320" cy="7021800"/>
          </a:xfrm>
        </p:grpSpPr>
        <p:sp>
          <p:nvSpPr>
            <p:cNvPr id="24" name="Google Shape;546;p67"/>
            <p:cNvSpPr/>
            <p:nvPr/>
          </p:nvSpPr>
          <p:spPr>
            <a:xfrm flipV="1" rot="11604000">
              <a:off x="-655560" y="-241920"/>
              <a:ext cx="8017920" cy="5215680"/>
            </a:xfrm>
            <a:custGeom>
              <a:avLst/>
              <a:gdLst>
                <a:gd name="textAreaLeft" fmla="*/ 0 w 8017920"/>
                <a:gd name="textAreaRight" fmla="*/ 8018280 w 8017920"/>
                <a:gd name="textAreaTop" fmla="*/ 360 h 5215680"/>
                <a:gd name="textAreaBottom" fmla="*/ 5216400 h 5215680"/>
              </a:gdLst>
              <a:ahLst/>
              <a:cxnLst/>
              <a:rect l="textAreaLeft" t="textAreaTop" r="textAreaRight" b="textAreaBottom"/>
              <a:pathLst>
                <a:path w="284249" h="184907">
                  <a:moveTo>
                    <a:pt x="56382" y="184907"/>
                  </a:moveTo>
                  <a:lnTo>
                    <a:pt x="80709" y="184907"/>
                  </a:lnTo>
                  <a:cubicBezTo>
                    <a:pt x="149321" y="184907"/>
                    <a:pt x="147776" y="574"/>
                    <a:pt x="284249" y="574"/>
                  </a:cubicBezTo>
                  <a:lnTo>
                    <a:pt x="284249" y="0"/>
                  </a:lnTo>
                  <a:lnTo>
                    <a:pt x="0" y="0"/>
                  </a:lnTo>
                  <a:lnTo>
                    <a:pt x="0" y="165392"/>
                  </a:lnTo>
                  <a:cubicBezTo>
                    <a:pt x="19118" y="170248"/>
                    <a:pt x="37529" y="181110"/>
                    <a:pt x="56382" y="184907"/>
                  </a:cubicBezTo>
                  <a:close/>
                </a:path>
              </a:pathLst>
            </a:custGeom>
            <a:solidFill>
              <a:schemeClr val="dk2">
                <a:alpha val="4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547;p67"/>
            <p:cNvSpPr/>
            <p:nvPr/>
          </p:nvSpPr>
          <p:spPr>
            <a:xfrm flipV="1" rot="11184000">
              <a:off x="-234360" y="-568080"/>
              <a:ext cx="8597160" cy="6030000"/>
            </a:xfrm>
            <a:custGeom>
              <a:avLst/>
              <a:gdLst>
                <a:gd name="textAreaLeft" fmla="*/ 0 w 8597160"/>
                <a:gd name="textAreaRight" fmla="*/ 8597520 w 8597160"/>
                <a:gd name="textAreaTop" fmla="*/ 360 h 6030000"/>
                <a:gd name="textAreaBottom" fmla="*/ 6030720 h 6030000"/>
              </a:gdLst>
              <a:ahLst/>
              <a:cxnLst/>
              <a:rect l="textAreaLeft" t="textAreaTop" r="textAreaRight" b="textAreaBottom"/>
              <a:pathLst>
                <a:path w="284249" h="184907">
                  <a:moveTo>
                    <a:pt x="56382" y="184907"/>
                  </a:moveTo>
                  <a:lnTo>
                    <a:pt x="80709" y="184907"/>
                  </a:lnTo>
                  <a:cubicBezTo>
                    <a:pt x="149321" y="184907"/>
                    <a:pt x="147776" y="574"/>
                    <a:pt x="284249" y="574"/>
                  </a:cubicBezTo>
                  <a:lnTo>
                    <a:pt x="284249" y="0"/>
                  </a:lnTo>
                  <a:lnTo>
                    <a:pt x="0" y="0"/>
                  </a:lnTo>
                  <a:lnTo>
                    <a:pt x="0" y="165392"/>
                  </a:lnTo>
                  <a:cubicBezTo>
                    <a:pt x="19118" y="170248"/>
                    <a:pt x="37529" y="181110"/>
                    <a:pt x="56382" y="18490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352760" y="1171440"/>
            <a:ext cx="4409640" cy="168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 Medium"/>
              </a:rPr>
              <a:t>StayVynix </a:t>
            </a:r>
            <a:endParaRPr b="0" lang="fr-FR" sz="4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4352760" y="2857680"/>
            <a:ext cx="4409640" cy="112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chemeClr val="dk2"/>
              </a:solidFill>
              <a:effectLst/>
              <a:uFillTx/>
              <a:latin typeface="Lato"/>
              <a:ea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655;p75" descr=""/>
          <p:cNvPicPr/>
          <p:nvPr/>
        </p:nvPicPr>
        <p:blipFill>
          <a:blip r:embed="rId1"/>
          <a:stretch/>
        </p:blipFill>
        <p:spPr>
          <a:xfrm>
            <a:off x="0" y="0"/>
            <a:ext cx="43102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" name="Google Shape;656;p75"/>
          <p:cNvGrpSpPr/>
          <p:nvPr/>
        </p:nvGrpSpPr>
        <p:grpSpPr>
          <a:xfrm>
            <a:off x="-1657800" y="-592560"/>
            <a:ext cx="8731440" cy="6154200"/>
            <a:chOff x="-1657800" y="-592560"/>
            <a:chExt cx="8731440" cy="6154200"/>
          </a:xfrm>
        </p:grpSpPr>
        <p:sp>
          <p:nvSpPr>
            <p:cNvPr id="30" name="Google Shape;657;p75"/>
            <p:cNvSpPr/>
            <p:nvPr/>
          </p:nvSpPr>
          <p:spPr>
            <a:xfrm flipH="1" rot="420000">
              <a:off x="-1370160" y="-123480"/>
              <a:ext cx="8017560" cy="5216040"/>
            </a:xfrm>
            <a:custGeom>
              <a:avLst/>
              <a:gdLst>
                <a:gd name="textAreaLeft" fmla="*/ -360 w 8017560"/>
                <a:gd name="textAreaRight" fmla="*/ 8017560 w 8017560"/>
                <a:gd name="textAreaTop" fmla="*/ 0 h 5216040"/>
                <a:gd name="textAreaBottom" fmla="*/ 5216400 h 5216040"/>
              </a:gdLst>
              <a:ahLst/>
              <a:cxnLst/>
              <a:rect l="textAreaLeft" t="textAreaTop" r="textAreaRight" b="textAreaBottom"/>
              <a:pathLst>
                <a:path w="284249" h="184907">
                  <a:moveTo>
                    <a:pt x="56382" y="184907"/>
                  </a:moveTo>
                  <a:lnTo>
                    <a:pt x="80709" y="184907"/>
                  </a:lnTo>
                  <a:cubicBezTo>
                    <a:pt x="149321" y="184907"/>
                    <a:pt x="147776" y="574"/>
                    <a:pt x="284249" y="574"/>
                  </a:cubicBezTo>
                  <a:lnTo>
                    <a:pt x="284249" y="0"/>
                  </a:lnTo>
                  <a:lnTo>
                    <a:pt x="0" y="0"/>
                  </a:lnTo>
                  <a:lnTo>
                    <a:pt x="0" y="165392"/>
                  </a:lnTo>
                  <a:cubicBezTo>
                    <a:pt x="19118" y="170248"/>
                    <a:pt x="37529" y="181110"/>
                    <a:pt x="56382" y="184907"/>
                  </a:cubicBezTo>
                  <a:close/>
                </a:path>
              </a:pathLst>
            </a:custGeom>
            <a:solidFill>
              <a:schemeClr val="dk2">
                <a:alpha val="4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658;p75"/>
            <p:cNvSpPr/>
            <p:nvPr/>
          </p:nvSpPr>
          <p:spPr>
            <a:xfrm flipH="1">
              <a:off x="-944280" y="-123480"/>
              <a:ext cx="8017560" cy="5623560"/>
            </a:xfrm>
            <a:custGeom>
              <a:avLst/>
              <a:gdLst>
                <a:gd name="textAreaLeft" fmla="*/ -360 w 8017560"/>
                <a:gd name="textAreaRight" fmla="*/ 8017560 w 8017560"/>
                <a:gd name="textAreaTop" fmla="*/ 0 h 5623560"/>
                <a:gd name="textAreaBottom" fmla="*/ 5623920 h 5623560"/>
              </a:gdLst>
              <a:ahLst/>
              <a:cxnLst/>
              <a:rect l="textAreaLeft" t="textAreaTop" r="textAreaRight" b="textAreaBottom"/>
              <a:pathLst>
                <a:path w="284249" h="184907">
                  <a:moveTo>
                    <a:pt x="56382" y="184907"/>
                  </a:moveTo>
                  <a:lnTo>
                    <a:pt x="80709" y="184907"/>
                  </a:lnTo>
                  <a:cubicBezTo>
                    <a:pt x="149321" y="184907"/>
                    <a:pt x="147776" y="574"/>
                    <a:pt x="284249" y="574"/>
                  </a:cubicBezTo>
                  <a:lnTo>
                    <a:pt x="284249" y="0"/>
                  </a:lnTo>
                  <a:lnTo>
                    <a:pt x="0" y="0"/>
                  </a:lnTo>
                  <a:lnTo>
                    <a:pt x="0" y="165392"/>
                  </a:lnTo>
                  <a:cubicBezTo>
                    <a:pt x="19118" y="170248"/>
                    <a:pt x="37529" y="181110"/>
                    <a:pt x="56382" y="18490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200480" y="457200"/>
            <a:ext cx="4524120" cy="197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Introduction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4200480" y="2428920"/>
            <a:ext cx="4524120" cy="209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StayVynix is a scalable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short-term rental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marketplace built with the MERN stack, designed to connect hosts and guests through a secure, intuitive web app.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Goal: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Validate product-market fit and deliver a production-ready MVP within 3 months.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5048280" y="619200"/>
            <a:ext cx="22856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"/>
          <p:cNvSpPr/>
          <p:nvPr/>
        </p:nvSpPr>
        <p:spPr>
          <a:xfrm>
            <a:off x="504828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Josefin Sans"/>
              </a:rPr>
              <a:t>Project Overview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image69f0c88258b5f" descr="image69f0c88258b62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066680" y="923760"/>
            <a:ext cx="7009920" cy="12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Concept &amp; Vision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1066680" y="2162160"/>
            <a:ext cx="7009920" cy="15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StayVynix combines listing management, booking, and payments into one platform.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Focus on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user experience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, host tools, and operational efficiency to differentiate from competitors.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Vision: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Become the trusted local-first alternative for travelers and hosts.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</a:rPr>
              <a:t>Target Users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Lato"/>
              </a:rPr>
              <a:t>Primary: independent hosts and leisure travelers seeking flexible stays.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Lato"/>
              </a:rPr>
              <a:t>Secondary: property managers and business travelers requiring reliable listings.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Lato"/>
              </a:rPr>
              <a:t>Emphasis on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Lato"/>
              </a:rPr>
              <a:t>trust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Lato"/>
              </a:rPr>
              <a:t>, ease of use, and competitive fees to drive adoption.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655;p75" descr=""/>
          <p:cNvPicPr/>
          <p:nvPr/>
        </p:nvPicPr>
        <p:blipFill>
          <a:blip r:embed="rId1"/>
          <a:stretch/>
        </p:blipFill>
        <p:spPr>
          <a:xfrm>
            <a:off x="0" y="0"/>
            <a:ext cx="431028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" name="Google Shape;656;p75"/>
          <p:cNvGrpSpPr/>
          <p:nvPr/>
        </p:nvGrpSpPr>
        <p:grpSpPr>
          <a:xfrm>
            <a:off x="-1657800" y="-592560"/>
            <a:ext cx="8731440" cy="6154200"/>
            <a:chOff x="-1657800" y="-592560"/>
            <a:chExt cx="8731440" cy="6154200"/>
          </a:xfrm>
        </p:grpSpPr>
        <p:sp>
          <p:nvSpPr>
            <p:cNvPr id="43" name="Google Shape;657;p75"/>
            <p:cNvSpPr/>
            <p:nvPr/>
          </p:nvSpPr>
          <p:spPr>
            <a:xfrm flipH="1" rot="420000">
              <a:off x="-1370160" y="-123480"/>
              <a:ext cx="8017560" cy="5216040"/>
            </a:xfrm>
            <a:custGeom>
              <a:avLst/>
              <a:gdLst>
                <a:gd name="textAreaLeft" fmla="*/ -360 w 8017560"/>
                <a:gd name="textAreaRight" fmla="*/ 8017560 w 8017560"/>
                <a:gd name="textAreaTop" fmla="*/ 0 h 5216040"/>
                <a:gd name="textAreaBottom" fmla="*/ 5216400 h 5216040"/>
              </a:gdLst>
              <a:ahLst/>
              <a:cxnLst/>
              <a:rect l="textAreaLeft" t="textAreaTop" r="textAreaRight" b="textAreaBottom"/>
              <a:pathLst>
                <a:path w="284249" h="184907">
                  <a:moveTo>
                    <a:pt x="56382" y="184907"/>
                  </a:moveTo>
                  <a:lnTo>
                    <a:pt x="80709" y="184907"/>
                  </a:lnTo>
                  <a:cubicBezTo>
                    <a:pt x="149321" y="184907"/>
                    <a:pt x="147776" y="574"/>
                    <a:pt x="284249" y="574"/>
                  </a:cubicBezTo>
                  <a:lnTo>
                    <a:pt x="284249" y="0"/>
                  </a:lnTo>
                  <a:lnTo>
                    <a:pt x="0" y="0"/>
                  </a:lnTo>
                  <a:lnTo>
                    <a:pt x="0" y="165392"/>
                  </a:lnTo>
                  <a:cubicBezTo>
                    <a:pt x="19118" y="170248"/>
                    <a:pt x="37529" y="181110"/>
                    <a:pt x="56382" y="184907"/>
                  </a:cubicBezTo>
                  <a:close/>
                </a:path>
              </a:pathLst>
            </a:custGeom>
            <a:solidFill>
              <a:schemeClr val="dk2">
                <a:alpha val="4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658;p75"/>
            <p:cNvSpPr/>
            <p:nvPr/>
          </p:nvSpPr>
          <p:spPr>
            <a:xfrm flipH="1">
              <a:off x="-944280" y="-123480"/>
              <a:ext cx="8017560" cy="5623560"/>
            </a:xfrm>
            <a:custGeom>
              <a:avLst/>
              <a:gdLst>
                <a:gd name="textAreaLeft" fmla="*/ -360 w 8017560"/>
                <a:gd name="textAreaRight" fmla="*/ 8017560 w 8017560"/>
                <a:gd name="textAreaTop" fmla="*/ 0 h 5623560"/>
                <a:gd name="textAreaBottom" fmla="*/ 5623920 h 5623560"/>
              </a:gdLst>
              <a:ahLst/>
              <a:cxnLst/>
              <a:rect l="textAreaLeft" t="textAreaTop" r="textAreaRight" b="textAreaBottom"/>
              <a:pathLst>
                <a:path w="284249" h="184907">
                  <a:moveTo>
                    <a:pt x="56382" y="184907"/>
                  </a:moveTo>
                  <a:lnTo>
                    <a:pt x="80709" y="184907"/>
                  </a:lnTo>
                  <a:cubicBezTo>
                    <a:pt x="149321" y="184907"/>
                    <a:pt x="147776" y="574"/>
                    <a:pt x="284249" y="574"/>
                  </a:cubicBezTo>
                  <a:lnTo>
                    <a:pt x="284249" y="0"/>
                  </a:lnTo>
                  <a:lnTo>
                    <a:pt x="0" y="0"/>
                  </a:lnTo>
                  <a:lnTo>
                    <a:pt x="0" y="165392"/>
                  </a:lnTo>
                  <a:cubicBezTo>
                    <a:pt x="19118" y="170248"/>
                    <a:pt x="37529" y="181110"/>
                    <a:pt x="56382" y="18490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200480" y="457200"/>
            <a:ext cx="4524120" cy="197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Business Model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4200480" y="2428920"/>
            <a:ext cx="4524120" cy="209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StayVynix monetizes via a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commission on bookings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and optional host subscription plans for premium tools.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Focus on scalable revenue streams: service fees, featured listings, and partnerships.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Drive profitability through user retention, optimized host economics, and targeted marketing.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619200" y="619200"/>
            <a:ext cx="214272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"/>
          <p:cNvSpPr/>
          <p:nvPr/>
        </p:nvSpPr>
        <p:spPr>
          <a:xfrm>
            <a:off x="61920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Josefin Sans"/>
              </a:rPr>
              <a:t>Technical Architecture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image69f0c88268381" descr="image69f0c88268384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066680" y="923760"/>
            <a:ext cx="7009920" cy="12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MERN Stack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066680" y="2162160"/>
            <a:ext cx="7009920" cy="15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Frontend: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React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with component-driven design and client-side routing.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Backend: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Node.js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+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Express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providing RESTful APIs.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Database: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MongoDB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for flexible listing schemas and fast queries.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61920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</a:rPr>
              <a:t>Key Features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"/>
          <p:cNvSpPr/>
          <p:nvPr/>
        </p:nvSpPr>
        <p:spPr>
          <a:xfrm>
            <a:off x="61920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Lato"/>
              </a:rPr>
              <a:t>Listing creation and management with calendar syncing and dynamic pricing.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Lato"/>
              </a:rPr>
              <a:t>Booking flow with availability checks, secure payments, and messaging between host/guest.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Lato"/>
              </a:rPr>
              <a:t>Admin dashboard, analytics, and review system to build trust.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image69f0c882726c2" descr="image69f0c882726c5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</a:rPr>
              <a:t>Deployment &amp; Security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Lato"/>
              </a:rPr>
              <a:t>Containerized deployment using Docker and CI/CD pipelines for rapid releases.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Lato"/>
              </a:rPr>
              <a:t>Use HTTPS, JWT-based auth, input validation, and role-based access control to protect data.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Lato"/>
              </a:rPr>
              <a:t>Monitor performance and incidents with logging and automated alerts.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66680" y="923760"/>
            <a:ext cx="7009920" cy="12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Conclusions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1066680" y="2162160"/>
            <a:ext cx="7009920" cy="152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StayVynix combines a proven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MERN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architecture with product features tailored to hosts and guests, enabling rapid MVP delivery.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Next steps: finalize MVP scope, implement core bookings/payments, and deploy a pilot to validate assumptions.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680;p127"/>
          <p:cNvSpPr/>
          <p:nvPr/>
        </p:nvSpPr>
        <p:spPr>
          <a:xfrm>
            <a:off x="3344760" y="-41040"/>
            <a:ext cx="4289760" cy="5797800"/>
          </a:xfrm>
          <a:custGeom>
            <a:avLst/>
            <a:gdLst>
              <a:gd name="textAreaLeft" fmla="*/ 0 w 4289760"/>
              <a:gd name="textAreaRight" fmla="*/ 4290120 w 4289760"/>
              <a:gd name="textAreaTop" fmla="*/ 0 h 5797800"/>
              <a:gd name="textAreaBottom" fmla="*/ 5798160 h 5797800"/>
            </a:gdLst>
            <a:ahLst/>
            <a:cxnLst/>
            <a:rect l="textAreaLeft" t="textAreaTop" r="textAreaRight" b="textAreaBottom"/>
            <a:pathLst>
              <a:path w="284249" h="184907">
                <a:moveTo>
                  <a:pt x="56382" y="184907"/>
                </a:moveTo>
                <a:lnTo>
                  <a:pt x="80709" y="184907"/>
                </a:lnTo>
                <a:cubicBezTo>
                  <a:pt x="149321" y="184907"/>
                  <a:pt x="147776" y="574"/>
                  <a:pt x="284249" y="574"/>
                </a:cubicBezTo>
                <a:lnTo>
                  <a:pt x="284249" y="0"/>
                </a:lnTo>
                <a:lnTo>
                  <a:pt x="0" y="0"/>
                </a:lnTo>
                <a:lnTo>
                  <a:pt x="0" y="165392"/>
                </a:lnTo>
                <a:cubicBezTo>
                  <a:pt x="19118" y="170248"/>
                  <a:pt x="37529" y="181110"/>
                  <a:pt x="56382" y="184907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Google Shape;1681;p127"/>
          <p:cNvSpPr/>
          <p:nvPr/>
        </p:nvSpPr>
        <p:spPr>
          <a:xfrm rot="20700000">
            <a:off x="3064320" y="1661760"/>
            <a:ext cx="7212240" cy="4112280"/>
          </a:xfrm>
          <a:custGeom>
            <a:avLst/>
            <a:gdLst>
              <a:gd name="textAreaLeft" fmla="*/ 0 w 7212240"/>
              <a:gd name="textAreaRight" fmla="*/ 7212600 w 7212240"/>
              <a:gd name="textAreaTop" fmla="*/ 0 h 4112280"/>
              <a:gd name="textAreaBottom" fmla="*/ 4112640 h 4112280"/>
            </a:gdLst>
            <a:ahLst/>
            <a:cxnLst/>
            <a:rect l="textAreaLeft" t="textAreaTop" r="textAreaRight" b="textAreaBottom"/>
            <a:pathLst>
              <a:path w="274713" h="156651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Google Shape;1682;p127"/>
          <p:cNvSpPr/>
          <p:nvPr/>
        </p:nvSpPr>
        <p:spPr>
          <a:xfrm rot="20032800">
            <a:off x="3340080" y="1431000"/>
            <a:ext cx="7243200" cy="4595400"/>
          </a:xfrm>
          <a:custGeom>
            <a:avLst/>
            <a:gdLst>
              <a:gd name="textAreaLeft" fmla="*/ 0 w 7243200"/>
              <a:gd name="textAreaRight" fmla="*/ 7243560 w 7243200"/>
              <a:gd name="textAreaTop" fmla="*/ 0 h 4595400"/>
              <a:gd name="textAreaBottom" fmla="*/ 4595760 h 4595400"/>
            </a:gdLst>
            <a:ahLst/>
            <a:cxnLst/>
            <a:rect l="textAreaLeft" t="textAreaTop" r="textAreaRight" b="textAreaBottom"/>
            <a:pathLst>
              <a:path w="274713" h="156651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23960" y="324000"/>
            <a:ext cx="8524440" cy="150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5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THANKS!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723960" y="1514520"/>
            <a:ext cx="811512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DOES ANYONE HAVE ANY QUESTIONS?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addyouremail@freepik.com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+91 620 421 838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yourcompany.com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Google Shape;1685;p127"/>
          <p:cNvSpPr/>
          <p:nvPr/>
        </p:nvSpPr>
        <p:spPr>
          <a:xfrm>
            <a:off x="723960" y="4162320"/>
            <a:ext cx="22856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757960" bIns="-27579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attribution.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5" name="Google Shape;1686;p127"/>
          <p:cNvGrpSpPr/>
          <p:nvPr/>
        </p:nvGrpSpPr>
        <p:grpSpPr>
          <a:xfrm>
            <a:off x="835560" y="2719800"/>
            <a:ext cx="1976400" cy="295560"/>
            <a:chOff x="835560" y="2719800"/>
            <a:chExt cx="1976400" cy="295560"/>
          </a:xfrm>
        </p:grpSpPr>
        <p:sp>
          <p:nvSpPr>
            <p:cNvPr id="66" name="Google Shape;1687;p127"/>
            <p:cNvSpPr/>
            <p:nvPr/>
          </p:nvSpPr>
          <p:spPr>
            <a:xfrm>
              <a:off x="835560" y="2719800"/>
              <a:ext cx="295200" cy="295200"/>
            </a:xfrm>
            <a:custGeom>
              <a:avLst/>
              <a:gdLst>
                <a:gd name="textAreaLeft" fmla="*/ 0 w 295200"/>
                <a:gd name="textAreaRight" fmla="*/ 295560 w 29520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1688;p127"/>
            <p:cNvSpPr/>
            <p:nvPr/>
          </p:nvSpPr>
          <p:spPr>
            <a:xfrm>
              <a:off x="2549880" y="2779560"/>
              <a:ext cx="237960" cy="194040"/>
            </a:xfrm>
            <a:custGeom>
              <a:avLst/>
              <a:gdLst>
                <a:gd name="textAreaLeft" fmla="*/ 0 w 237960"/>
                <a:gd name="textAreaRight" fmla="*/ 238320 w 237960"/>
                <a:gd name="textAreaTop" fmla="*/ 0 h 194040"/>
                <a:gd name="textAreaBottom" fmla="*/ 194400 h 194040"/>
              </a:gdLst>
              <a:ahLst/>
              <a:cxnLst/>
              <a:rect l="textAreaLeft" t="textAreaTop" r="textAreaRight" b="textAreaBottom"/>
              <a:pathLst>
                <a:path w="20081" h="16377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68" name="Google Shape;1689;p127"/>
            <p:cNvGrpSpPr/>
            <p:nvPr/>
          </p:nvGrpSpPr>
          <p:grpSpPr>
            <a:xfrm>
              <a:off x="1401840" y="2720160"/>
              <a:ext cx="295200" cy="295200"/>
              <a:chOff x="1401840" y="2720160"/>
              <a:chExt cx="295200" cy="295200"/>
            </a:xfrm>
          </p:grpSpPr>
          <p:sp>
            <p:nvSpPr>
              <p:cNvPr id="69" name="Google Shape;1690;p127"/>
              <p:cNvSpPr/>
              <p:nvPr/>
            </p:nvSpPr>
            <p:spPr>
              <a:xfrm>
                <a:off x="1488960" y="2807280"/>
                <a:ext cx="120960" cy="120960"/>
              </a:xfrm>
              <a:custGeom>
                <a:avLst/>
                <a:gdLst>
                  <a:gd name="textAreaLeft" fmla="*/ 0 w 120960"/>
                  <a:gd name="textAreaRight" fmla="*/ 121320 w 120960"/>
                  <a:gd name="textAreaTop" fmla="*/ 0 h 120960"/>
                  <a:gd name="textAreaBottom" fmla="*/ 121320 h 120960"/>
                </a:gdLst>
                <a:ahLst/>
                <a:cxnLst/>
                <a:rect l="textAreaLeft" t="textAreaTop" r="textAreaRight" b="textAreaBottom"/>
                <a:pathLst>
                  <a:path w="8197" h="8197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0480" bIns="60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" name="Google Shape;1691;p127"/>
              <p:cNvSpPr/>
              <p:nvPr/>
            </p:nvSpPr>
            <p:spPr>
              <a:xfrm>
                <a:off x="1436400" y="2754720"/>
                <a:ext cx="226080" cy="226080"/>
              </a:xfrm>
              <a:custGeom>
                <a:avLst/>
                <a:gdLst>
                  <a:gd name="textAreaLeft" fmla="*/ 0 w 226080"/>
                  <a:gd name="textAreaRight" fmla="*/ 226440 w 226080"/>
                  <a:gd name="textAreaTop" fmla="*/ 0 h 226080"/>
                  <a:gd name="textAreaBottom" fmla="*/ 226440 h 226080"/>
                </a:gdLst>
                <a:ahLst/>
                <a:cxnLst/>
                <a:rect l="textAreaLeft" t="textAreaTop" r="textAreaRight" b="textAreaBottom"/>
                <a:pathLst>
                  <a:path w="15300" h="15299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" name="Google Shape;1692;p127"/>
              <p:cNvSpPr/>
              <p:nvPr/>
            </p:nvSpPr>
            <p:spPr>
              <a:xfrm>
                <a:off x="1592640" y="2790000"/>
                <a:ext cx="34200" cy="34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34200"/>
                  <a:gd name="textAreaBottom" fmla="*/ 34560 h 34200"/>
                </a:gdLst>
                <a:ahLst/>
                <a:cxnLst/>
                <a:rect l="textAreaLeft" t="textAreaTop" r="textAreaRight" b="textAreaBottom"/>
                <a:pathLst>
                  <a:path w="2342" h="2343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7280" bIns="17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" name="Google Shape;1693;p127"/>
              <p:cNvSpPr/>
              <p:nvPr/>
            </p:nvSpPr>
            <p:spPr>
              <a:xfrm>
                <a:off x="1401840" y="2720160"/>
                <a:ext cx="295200" cy="295200"/>
              </a:xfrm>
              <a:custGeom>
                <a:avLst/>
                <a:gdLst>
                  <a:gd name="textAreaLeft" fmla="*/ 0 w 295200"/>
                  <a:gd name="textAreaRight" fmla="*/ 295560 w 295200"/>
                  <a:gd name="textAreaTop" fmla="*/ 0 h 295200"/>
                  <a:gd name="textAreaBottom" fmla="*/ 295560 h 295200"/>
                </a:gdLst>
                <a:ahLst/>
                <a:cxnLst/>
                <a:rect l="textAreaLeft" t="textAreaTop" r="textAreaRight" b="textAreaBottom"/>
                <a:pathLst>
                  <a:path w="19984" h="19982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3" name="Google Shape;1694;p127"/>
            <p:cNvGrpSpPr/>
            <p:nvPr/>
          </p:nvGrpSpPr>
          <p:grpSpPr>
            <a:xfrm>
              <a:off x="1967760" y="2720160"/>
              <a:ext cx="295200" cy="295200"/>
              <a:chOff x="1967760" y="2720160"/>
              <a:chExt cx="295200" cy="295200"/>
            </a:xfrm>
          </p:grpSpPr>
          <p:sp>
            <p:nvSpPr>
              <p:cNvPr id="74" name="Google Shape;1695;p127"/>
              <p:cNvSpPr/>
              <p:nvPr/>
            </p:nvSpPr>
            <p:spPr>
              <a:xfrm>
                <a:off x="2011680" y="2824560"/>
                <a:ext cx="51480" cy="155520"/>
              </a:xfrm>
              <a:custGeom>
                <a:avLst/>
                <a:gdLst>
                  <a:gd name="textAreaLeft" fmla="*/ 0 w 51480"/>
                  <a:gd name="textAreaRight" fmla="*/ 51840 w 51480"/>
                  <a:gd name="textAreaTop" fmla="*/ 0 h 155520"/>
                  <a:gd name="textAreaBottom" fmla="*/ 155880 h 155520"/>
                </a:gdLst>
                <a:ahLst/>
                <a:cxnLst/>
                <a:rect l="textAreaLeft" t="textAreaTop" r="textAreaRight" b="textAreaBottom"/>
                <a:pathLst>
                  <a:path w="3514" h="10537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7760" bIns="77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" name="Google Shape;1696;p127"/>
              <p:cNvSpPr/>
              <p:nvPr/>
            </p:nvSpPr>
            <p:spPr>
              <a:xfrm>
                <a:off x="2011680" y="2755080"/>
                <a:ext cx="51480" cy="51480"/>
              </a:xfrm>
              <a:custGeom>
                <a:avLst/>
                <a:gdLst>
                  <a:gd name="textAreaLeft" fmla="*/ 0 w 51480"/>
                  <a:gd name="textAreaRight" fmla="*/ 51840 w 5148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3514" h="3514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" name="Google Shape;1697;p127"/>
              <p:cNvSpPr/>
              <p:nvPr/>
            </p:nvSpPr>
            <p:spPr>
              <a:xfrm>
                <a:off x="2080800" y="2824200"/>
                <a:ext cx="138240" cy="155880"/>
              </a:xfrm>
              <a:custGeom>
                <a:avLst/>
                <a:gdLst>
                  <a:gd name="textAreaLeft" fmla="*/ 0 w 138240"/>
                  <a:gd name="textAreaRight" fmla="*/ 138600 w 138240"/>
                  <a:gd name="textAreaTop" fmla="*/ 0 h 155880"/>
                  <a:gd name="textAreaBottom" fmla="*/ 156240 h 155880"/>
                </a:gdLst>
                <a:ahLst/>
                <a:cxnLst/>
                <a:rect l="textAreaLeft" t="textAreaTop" r="textAreaRight" b="textAreaBottom"/>
                <a:pathLst>
                  <a:path w="9368" h="10556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8120" bIns="78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" name="Google Shape;1698;p127"/>
              <p:cNvSpPr/>
              <p:nvPr/>
            </p:nvSpPr>
            <p:spPr>
              <a:xfrm>
                <a:off x="1967760" y="2720160"/>
                <a:ext cx="295200" cy="295200"/>
              </a:xfrm>
              <a:custGeom>
                <a:avLst/>
                <a:gdLst>
                  <a:gd name="textAreaLeft" fmla="*/ 0 w 295200"/>
                  <a:gd name="textAreaRight" fmla="*/ 295560 w 295200"/>
                  <a:gd name="textAreaTop" fmla="*/ 0 h 295200"/>
                  <a:gd name="textAreaBottom" fmla="*/ 295560 h 295200"/>
                </a:gdLst>
                <a:ahLst/>
                <a:cxnLst/>
                <a:rect l="textAreaLeft" t="textAreaTop" r="textAreaRight" b="textAreaBottom"/>
                <a:pathLst>
                  <a:path w="19982" h="19982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78" name="Google Shape;1699;p127"/>
            <p:cNvSpPr/>
            <p:nvPr/>
          </p:nvSpPr>
          <p:spPr>
            <a:xfrm>
              <a:off x="2516760" y="2719800"/>
              <a:ext cx="295200" cy="295200"/>
            </a:xfrm>
            <a:custGeom>
              <a:avLst/>
              <a:gdLst>
                <a:gd name="textAreaLeft" fmla="*/ 0 w 295200"/>
                <a:gd name="textAreaRight" fmla="*/ 295560 w 29520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XL Hotel Marketing by Slidesgo">
  <a:themeElements>
    <a:clrScheme name="Simple Light">
      <a:dk1>
        <a:srgbClr val="000000"/>
      </a:dk1>
      <a:lt1>
        <a:srgbClr val="ffffff"/>
      </a:lt1>
      <a:dk2>
        <a:srgbClr val="337e90"/>
      </a:dk2>
      <a:lt2>
        <a:srgbClr val="9fc3cb"/>
      </a:lt2>
      <a:accent1>
        <a:srgbClr val="e1e7ec"/>
      </a:accent1>
      <a:accent2>
        <a:srgbClr val="212121"/>
      </a:accent2>
      <a:accent3>
        <a:srgbClr val="78909c"/>
      </a:accent3>
      <a:accent4>
        <a:srgbClr val="d7dfe5"/>
      </a:accent4>
      <a:accent5>
        <a:srgbClr val="9fc3cb"/>
      </a:accent5>
      <a:accent6>
        <a:srgbClr val="78909c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2026-04-28T14:47:29Z</dcterms:created>
  <dc:creator>Unknown Creator</dc:creator>
  <dc:description/>
  <dc:language>en-US</dc:language>
  <cp:lastModifiedBy>Unknown Creator</cp:lastModifiedBy>
  <dcterms:modified xsi:type="dcterms:W3CDTF">2026-04-28T14:47:29Z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